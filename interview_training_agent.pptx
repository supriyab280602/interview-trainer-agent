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79" r:id="rId7"/>
    <p:sldId id="262" r:id="rId8"/>
    <p:sldId id="290" r:id="rId9"/>
    <p:sldId id="291"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3749846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GB" dirty="0"/>
                    </a:p>
                    <a:p>
                      <a:pPr marL="0" marR="0" lvl="0" indent="0" algn="ctr" rtl="0">
                        <a:spcBef>
                          <a:spcPts val="0"/>
                        </a:spcBef>
                        <a:spcAft>
                          <a:spcPts val="0"/>
                        </a:spcAft>
                        <a:buNone/>
                      </a:pPr>
                      <a:endParaRPr lang="en-GB" dirty="0"/>
                    </a:p>
                    <a:p>
                      <a:pPr marL="0" marR="0" lvl="0" indent="0" algn="ctr" rtl="0">
                        <a:spcBef>
                          <a:spcPts val="0"/>
                        </a:spcBef>
                        <a:spcAft>
                          <a:spcPts val="0"/>
                        </a:spcAft>
                        <a:buNone/>
                      </a:pPr>
                      <a:r>
                        <a:rPr lang="en-GB" dirty="0"/>
                        <a:t>Supriya B</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GB"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GB" dirty="0"/>
                        <a:t>1sj24cs149@gmail.com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GB"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sz="1400" b="0" i="0" u="none" strike="noStrike" cap="none" dirty="0">
                          <a:solidFill>
                            <a:srgbClr val="000000"/>
                          </a:solidFill>
                          <a:effectLst/>
                          <a:latin typeface="Arial"/>
                          <a:ea typeface="Arial"/>
                          <a:cs typeface="Arial"/>
                          <a:sym typeface="Arial"/>
                        </a:rPr>
                        <a:t>8073614761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300" dirty="0"/>
              <a:t>Education Technology (EdTech) / Artificial Intelligence</a:t>
            </a:r>
            <a:endParaRPr lang="en-IN" sz="23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err="1"/>
              <a:t>Inferexa</a:t>
            </a:r>
            <a:r>
              <a:rPr lang="en-IN" sz="2400" dirty="0"/>
              <a:t> – AI-Powered Interview Trainer Agent</a:t>
            </a:r>
            <a:endParaRPr lang="en-IN" sz="2400" b="1" dirty="0"/>
          </a:p>
        </p:txBody>
      </p:sp>
      <p:pic>
        <p:nvPicPr>
          <p:cNvPr id="3" name="Picture 2">
            <a:extLst>
              <a:ext uri="{FF2B5EF4-FFF2-40B4-BE49-F238E27FC236}">
                <a16:creationId xmlns:a16="http://schemas.microsoft.com/office/drawing/2014/main" id="{A189F35D-CD2D-A618-D102-B2FE6881CD34}"/>
              </a:ext>
            </a:extLst>
          </p:cNvPr>
          <p:cNvPicPr>
            <a:picLocks noChangeAspect="1"/>
          </p:cNvPicPr>
          <p:nvPr/>
        </p:nvPicPr>
        <p:blipFill>
          <a:blip r:embed="rId3"/>
          <a:stretch>
            <a:fillRect/>
          </a:stretch>
        </p:blipFill>
        <p:spPr>
          <a:xfrm>
            <a:off x="4168877" y="3658857"/>
            <a:ext cx="831440" cy="11085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5078313"/>
          </a:xfrm>
          <a:prstGeom prst="rect">
            <a:avLst/>
          </a:prstGeom>
          <a:noFill/>
        </p:spPr>
        <p:txBody>
          <a:bodyPr wrap="square" lIns="91440" tIns="45720" rIns="91440" bIns="45720" rtlCol="0" anchor="t">
            <a:spAutoFit/>
          </a:bodyPr>
          <a:lstStyle/>
          <a:p>
            <a:pPr fontAlgn="base"/>
            <a:r>
              <a:rPr lang="en-US" sz="2000" b="1" dirty="0"/>
              <a:t>Problem Statement: </a:t>
            </a:r>
            <a:r>
              <a:rPr lang="en-IN" sz="2000" b="1" dirty="0"/>
              <a:t>AI-Powered Interview Trainer Agent using IBM Granite</a:t>
            </a:r>
          </a:p>
          <a:p>
            <a:pPr fontAlgn="base"/>
            <a:endParaRPr lang="en-US" sz="2000" b="1" dirty="0"/>
          </a:p>
          <a:p>
            <a:pPr>
              <a:lnSpc>
                <a:spcPct val="150000"/>
              </a:lnSpc>
            </a:pPr>
            <a:r>
              <a:rPr lang="en-IN" sz="2000" dirty="0"/>
              <a:t>Job seekers often struggle to prepare effectively for interviews because existing platforms provide static question banks, generic mock interviews, and limited feedback that do not consider a candidate's resume, skills, experience, or target job role. This lack of personalization reduces the effectiveness of interview preparation and makes it difficult for candidates to identify their strengths and areas for improvement. The objective of this project is to develop an AI-powered Interview Trainer Agent using IBM Granite and IBM Cloud Lite Services that generates personalized interview questions, evaluates user responses, and provides intelligent feedback to help candidates improve their interview performance and confidence.</a:t>
            </a:r>
          </a:p>
          <a:p>
            <a:pPr fontAlgn="base">
              <a:lnSpc>
                <a:spcPct val="150000"/>
              </a:lnSpc>
            </a:pPr>
            <a:endParaRPr lang="en-US" sz="20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6498639"/>
          </a:xfrm>
          <a:prstGeom prst="rect">
            <a:avLst/>
          </a:prstGeom>
          <a:noFill/>
        </p:spPr>
        <p:txBody>
          <a:bodyPr wrap="square" lIns="91440" tIns="45720" rIns="91440" bIns="45720" rtlCol="0" anchor="t">
            <a:spAutoFit/>
          </a:bodyPr>
          <a:lstStyle/>
          <a:p>
            <a:pPr>
              <a:lnSpc>
                <a:spcPct val="150000"/>
              </a:lnSpc>
            </a:pPr>
            <a:r>
              <a:rPr lang="en-IN" sz="2000" dirty="0" err="1"/>
              <a:t>Inferexa</a:t>
            </a:r>
            <a:r>
              <a:rPr lang="en-IN" sz="2000" dirty="0"/>
              <a:t> is an AI-powered interview coaching platform that combines </a:t>
            </a:r>
            <a:r>
              <a:rPr lang="en-IN" sz="2000" b="1" dirty="0"/>
              <a:t>IBM Granite</a:t>
            </a:r>
            <a:r>
              <a:rPr lang="en-IN" sz="2000" dirty="0"/>
              <a:t> with </a:t>
            </a:r>
            <a:r>
              <a:rPr lang="en-IN" sz="2000" b="1" dirty="0"/>
              <a:t>Retrieval-Augmented Generation (RAG)</a:t>
            </a:r>
            <a:r>
              <a:rPr lang="en-IN" sz="2000" dirty="0"/>
              <a:t> to deliver personalized interview preparation.</a:t>
            </a:r>
          </a:p>
          <a:p>
            <a:pPr>
              <a:lnSpc>
                <a:spcPct val="150000"/>
              </a:lnSpc>
            </a:pPr>
            <a:r>
              <a:rPr lang="en-IN" sz="2000" dirty="0"/>
              <a:t>The workflow includes:</a:t>
            </a:r>
          </a:p>
          <a:p>
            <a:pPr marL="342900" indent="-342900">
              <a:lnSpc>
                <a:spcPct val="150000"/>
              </a:lnSpc>
              <a:buFont typeface="Arial" panose="020B0604020202020204" pitchFamily="34" charset="0"/>
              <a:buChar char="•"/>
            </a:pPr>
            <a:r>
              <a:rPr lang="en-IN" sz="2000" dirty="0"/>
              <a:t>User registration and profile creation </a:t>
            </a:r>
          </a:p>
          <a:p>
            <a:pPr marL="342900" indent="-342900">
              <a:lnSpc>
                <a:spcPct val="150000"/>
              </a:lnSpc>
              <a:buFont typeface="Arial" panose="020B0604020202020204" pitchFamily="34" charset="0"/>
              <a:buChar char="•"/>
            </a:pPr>
            <a:r>
              <a:rPr lang="en-IN" sz="2000" dirty="0"/>
              <a:t>Resume upload and parsing </a:t>
            </a:r>
          </a:p>
          <a:p>
            <a:pPr marL="342900" indent="-342900">
              <a:lnSpc>
                <a:spcPct val="150000"/>
              </a:lnSpc>
              <a:buFont typeface="Arial" panose="020B0604020202020204" pitchFamily="34" charset="0"/>
              <a:buChar char="•"/>
            </a:pPr>
            <a:r>
              <a:rPr lang="en-IN" sz="2000" dirty="0"/>
              <a:t>Skill and project extraction </a:t>
            </a:r>
          </a:p>
          <a:p>
            <a:pPr marL="342900" indent="-342900">
              <a:lnSpc>
                <a:spcPct val="150000"/>
              </a:lnSpc>
              <a:buFont typeface="Arial" panose="020B0604020202020204" pitchFamily="34" charset="0"/>
              <a:buChar char="•"/>
            </a:pPr>
            <a:r>
              <a:rPr lang="en-IN" sz="2000" dirty="0"/>
              <a:t>Knowledge retrieval using semantic search </a:t>
            </a:r>
          </a:p>
          <a:p>
            <a:pPr marL="342900" indent="-342900">
              <a:lnSpc>
                <a:spcPct val="150000"/>
              </a:lnSpc>
              <a:buFont typeface="Arial" panose="020B0604020202020204" pitchFamily="34" charset="0"/>
              <a:buChar char="•"/>
            </a:pPr>
            <a:r>
              <a:rPr lang="en-IN" sz="2000" dirty="0"/>
              <a:t>Personalized interview question generation </a:t>
            </a:r>
          </a:p>
          <a:p>
            <a:pPr marL="342900" indent="-342900">
              <a:lnSpc>
                <a:spcPct val="150000"/>
              </a:lnSpc>
              <a:buFont typeface="Arial" panose="020B0604020202020204" pitchFamily="34" charset="0"/>
              <a:buChar char="•"/>
            </a:pPr>
            <a:r>
              <a:rPr lang="en-IN" sz="2000" dirty="0"/>
              <a:t>AI-based answer evaluation </a:t>
            </a:r>
          </a:p>
          <a:p>
            <a:pPr marL="342900" indent="-342900">
              <a:lnSpc>
                <a:spcPct val="150000"/>
              </a:lnSpc>
              <a:buFont typeface="Arial" panose="020B0604020202020204" pitchFamily="34" charset="0"/>
              <a:buChar char="•"/>
            </a:pPr>
            <a:r>
              <a:rPr lang="en-IN" sz="2000" dirty="0"/>
              <a:t>Performance tracking and analytics </a:t>
            </a:r>
          </a:p>
          <a:p>
            <a:pPr>
              <a:lnSpc>
                <a:spcPct val="150000"/>
              </a:lnSpc>
            </a:pPr>
            <a:r>
              <a:rPr lang="en-IN" sz="2000" dirty="0"/>
              <a:t>Unlike traditional interview platforms, </a:t>
            </a:r>
            <a:r>
              <a:rPr lang="en-IN" sz="2000" dirty="0" err="1"/>
              <a:t>Inferexa</a:t>
            </a:r>
            <a:r>
              <a:rPr lang="en-IN" sz="2000" dirty="0"/>
              <a:t> adapts every interview based on the user's resume, experience level, and target job role.</a:t>
            </a:r>
          </a:p>
          <a:p>
            <a:pPr>
              <a:lnSpc>
                <a:spcPct val="150000"/>
              </a:lnSpc>
            </a:pPr>
            <a:br>
              <a:rPr lang="en-US" sz="2000" dirty="0"/>
            </a:br>
            <a:r>
              <a:rPr lang="en-US" sz="2000" dirty="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985706"/>
          </a:xfrm>
          <a:prstGeom prst="rect">
            <a:avLst/>
          </a:prstGeom>
          <a:noFill/>
        </p:spPr>
        <p:txBody>
          <a:bodyPr wrap="square" lIns="91440" tIns="45720" rIns="91440" bIns="45720" rtlCol="0" anchor="t">
            <a:spAutoFit/>
          </a:bodyPr>
          <a:lstStyle/>
          <a:p>
            <a:endParaRPr lang="en-US" sz="1800" dirty="0"/>
          </a:p>
          <a:p>
            <a:pPr marL="285750" indent="-285750">
              <a:lnSpc>
                <a:spcPct val="150000"/>
              </a:lnSpc>
              <a:buFont typeface="Arial" panose="020B0604020202020204" pitchFamily="34" charset="0"/>
              <a:buChar char="•"/>
            </a:pPr>
            <a:r>
              <a:rPr lang="en-US" sz="1800" b="1" dirty="0"/>
              <a:t>IBM Cloud </a:t>
            </a:r>
            <a:r>
              <a:rPr lang="en-US" sz="1800" dirty="0"/>
              <a:t>– </a:t>
            </a:r>
            <a:r>
              <a:rPr lang="en-IN" sz="1800" dirty="0"/>
              <a:t>Secure cloud platform, scalable deployment, cloud infrastructure</a:t>
            </a:r>
          </a:p>
          <a:p>
            <a:pPr marL="285750" indent="-285750">
              <a:lnSpc>
                <a:spcPct val="150000"/>
              </a:lnSpc>
              <a:buFont typeface="Arial" panose="020B0604020202020204" pitchFamily="34" charset="0"/>
              <a:buChar char="•"/>
            </a:pPr>
            <a:r>
              <a:rPr lang="en-IN" sz="1800" b="1" dirty="0"/>
              <a:t>IBM watsonx.ai </a:t>
            </a:r>
            <a:r>
              <a:rPr lang="en-US" sz="1800" dirty="0"/>
              <a:t>– </a:t>
            </a:r>
            <a:r>
              <a:rPr lang="en-IN" sz="1800" dirty="0"/>
              <a:t>IBM Granite 3 8B Instruct, prompt engineering, AI inference</a:t>
            </a:r>
          </a:p>
          <a:p>
            <a:pPr marL="285750" indent="-285750">
              <a:lnSpc>
                <a:spcPct val="150000"/>
              </a:lnSpc>
              <a:buFont typeface="Arial" panose="020B0604020202020204" pitchFamily="34" charset="0"/>
              <a:buChar char="•"/>
            </a:pPr>
            <a:r>
              <a:rPr lang="en-US" sz="1800" b="1" dirty="0"/>
              <a:t>IBM Cloud Object Storage</a:t>
            </a:r>
            <a:r>
              <a:rPr lang="en-US" sz="1800" dirty="0"/>
              <a:t> – </a:t>
            </a:r>
            <a:r>
              <a:rPr lang="en-IN" sz="1800" dirty="0"/>
              <a:t>Resume PDFs, generated reports, exported documents</a:t>
            </a:r>
            <a:endParaRPr lang="en-US" sz="1800" dirty="0"/>
          </a:p>
          <a:p>
            <a:pPr marL="285750" indent="-285750">
              <a:lnSpc>
                <a:spcPct val="150000"/>
              </a:lnSpc>
              <a:buFont typeface="Arial" panose="020B0604020202020204" pitchFamily="34" charset="0"/>
              <a:buChar char="•"/>
            </a:pPr>
            <a:r>
              <a:rPr lang="en-US" sz="1800" b="1" dirty="0"/>
              <a:t>IBM </a:t>
            </a:r>
            <a:r>
              <a:rPr lang="en-US" sz="1800" b="1" dirty="0" err="1"/>
              <a:t>Cloudants</a:t>
            </a:r>
            <a:r>
              <a:rPr lang="en-US" sz="1800" dirty="0"/>
              <a:t> – </a:t>
            </a:r>
            <a:r>
              <a:rPr lang="en-IN" sz="1800" dirty="0"/>
              <a:t>User accounts, authentication, interview history, analytics, profiles</a:t>
            </a:r>
            <a:endParaRPr lang="en-US" sz="1800" dirty="0"/>
          </a:p>
          <a:p>
            <a:pPr marL="285750" indent="-285750">
              <a:lnSpc>
                <a:spcPct val="150000"/>
              </a:lnSpc>
              <a:buFont typeface="Arial" panose="020B0604020202020204" pitchFamily="34" charset="0"/>
              <a:buChar char="•"/>
            </a:pPr>
            <a:r>
              <a:rPr lang="en-IN" sz="1800" b="1" dirty="0"/>
              <a:t>RAG Components </a:t>
            </a:r>
            <a:r>
              <a:rPr lang="en-US" sz="1800" dirty="0"/>
              <a:t>– </a:t>
            </a:r>
            <a:r>
              <a:rPr lang="en-IN" sz="1800" dirty="0" err="1"/>
              <a:t>ChromaDB</a:t>
            </a:r>
            <a:r>
              <a:rPr lang="en-IN" sz="1800" dirty="0"/>
              <a:t>, Sentence Transformers, semantic search, vector embeddings</a:t>
            </a:r>
          </a:p>
          <a:p>
            <a:pPr marL="285750" indent="-285750">
              <a:lnSpc>
                <a:spcPct val="150000"/>
              </a:lnSpc>
              <a:buFont typeface="Arial" panose="020B0604020202020204" pitchFamily="34" charset="0"/>
              <a:buChar char="•"/>
            </a:pPr>
            <a:r>
              <a:rPr lang="en-IN" sz="1800" b="1" dirty="0"/>
              <a:t>Backend </a:t>
            </a:r>
            <a:r>
              <a:rPr lang="en-US" sz="1800" dirty="0"/>
              <a:t>– </a:t>
            </a:r>
            <a:r>
              <a:rPr lang="en-IN" sz="1800" dirty="0"/>
              <a:t>Python, </a:t>
            </a:r>
            <a:r>
              <a:rPr lang="en-IN" sz="1800" dirty="0" err="1"/>
              <a:t>FastAPI</a:t>
            </a:r>
            <a:r>
              <a:rPr lang="en-IN" sz="1800" dirty="0"/>
              <a:t>, Async APIs, </a:t>
            </a:r>
            <a:r>
              <a:rPr lang="en-IN" sz="1800" dirty="0" err="1"/>
              <a:t>Pydantic</a:t>
            </a:r>
            <a:endParaRPr lang="en-IN" sz="1800" dirty="0"/>
          </a:p>
          <a:p>
            <a:pPr marL="285750" indent="-285750">
              <a:lnSpc>
                <a:spcPct val="150000"/>
              </a:lnSpc>
              <a:buFont typeface="Arial" panose="020B0604020202020204" pitchFamily="34" charset="0"/>
              <a:buChar char="•"/>
            </a:pPr>
            <a:r>
              <a:rPr lang="en-IN" sz="1800" b="1" dirty="0"/>
              <a:t>Frontend </a:t>
            </a:r>
            <a:r>
              <a:rPr lang="en-US" sz="1800" dirty="0"/>
              <a:t>– </a:t>
            </a:r>
            <a:r>
              <a:rPr lang="en-IN" sz="1800" dirty="0" err="1"/>
              <a:t>Streamlit</a:t>
            </a:r>
            <a:r>
              <a:rPr lang="en-IN" sz="1800" dirty="0"/>
              <a:t>, HTML, CSS, custom </a:t>
            </a:r>
            <a:r>
              <a:rPr lang="en-IN" sz="1800" dirty="0" err="1"/>
              <a:t>Streamlit</a:t>
            </a:r>
            <a:r>
              <a:rPr lang="en-IN" sz="1800" dirty="0"/>
              <a:t> components</a:t>
            </a:r>
            <a:endParaRPr lang="en-US" sz="1800" b="1"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Training Screenshots-</a:t>
            </a:r>
            <a:endParaRPr sz="2400" b="1" dirty="0">
              <a:sym typeface="Times New Roman"/>
            </a:endParaRPr>
          </a:p>
        </p:txBody>
      </p:sp>
      <p:pic>
        <p:nvPicPr>
          <p:cNvPr id="6" name="Picture 5">
            <a:extLst>
              <a:ext uri="{FF2B5EF4-FFF2-40B4-BE49-F238E27FC236}">
                <a16:creationId xmlns:a16="http://schemas.microsoft.com/office/drawing/2014/main" id="{1A9C5C2F-BAD2-E6F0-661F-F9D54F3FF9EC}"/>
              </a:ext>
            </a:extLst>
          </p:cNvPr>
          <p:cNvPicPr>
            <a:picLocks noChangeAspect="1"/>
          </p:cNvPicPr>
          <p:nvPr/>
        </p:nvPicPr>
        <p:blipFill>
          <a:blip r:embed="rId3"/>
          <a:stretch>
            <a:fillRect/>
          </a:stretch>
        </p:blipFill>
        <p:spPr>
          <a:xfrm>
            <a:off x="1026921" y="1211874"/>
            <a:ext cx="10137642" cy="474111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Training Screenshots-</a:t>
            </a:r>
          </a:p>
        </p:txBody>
      </p:sp>
      <p:pic>
        <p:nvPicPr>
          <p:cNvPr id="4" name="Picture 3">
            <a:extLst>
              <a:ext uri="{FF2B5EF4-FFF2-40B4-BE49-F238E27FC236}">
                <a16:creationId xmlns:a16="http://schemas.microsoft.com/office/drawing/2014/main" id="{91BE818C-ED56-BF75-D32D-8D19C319C9D8}"/>
              </a:ext>
            </a:extLst>
          </p:cNvPr>
          <p:cNvPicPr>
            <a:picLocks noChangeAspect="1"/>
          </p:cNvPicPr>
          <p:nvPr/>
        </p:nvPicPr>
        <p:blipFill>
          <a:blip r:embed="rId3"/>
          <a:stretch>
            <a:fillRect/>
          </a:stretch>
        </p:blipFill>
        <p:spPr>
          <a:xfrm>
            <a:off x="1768902" y="976274"/>
            <a:ext cx="8654195" cy="55584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91887D39-EAA2-0C22-F679-E9F3AC1443A0}"/>
              </a:ext>
            </a:extLst>
          </p:cNvPr>
          <p:cNvPicPr>
            <a:picLocks noChangeAspect="1"/>
          </p:cNvPicPr>
          <p:nvPr/>
        </p:nvPicPr>
        <p:blipFill>
          <a:blip r:embed="rId3"/>
          <a:stretch>
            <a:fillRect/>
          </a:stretch>
        </p:blipFill>
        <p:spPr>
          <a:xfrm>
            <a:off x="747508" y="1058041"/>
            <a:ext cx="11071123" cy="5385484"/>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30B94EB1-1CB3-A4FE-45AD-6FE49FBE934E}"/>
              </a:ext>
            </a:extLst>
          </p:cNvPr>
          <p:cNvPicPr>
            <a:picLocks noChangeAspect="1"/>
          </p:cNvPicPr>
          <p:nvPr/>
        </p:nvPicPr>
        <p:blipFill>
          <a:blip r:embed="rId2"/>
          <a:stretch>
            <a:fillRect/>
          </a:stretch>
        </p:blipFill>
        <p:spPr>
          <a:xfrm>
            <a:off x="1189704" y="1114482"/>
            <a:ext cx="9989574" cy="5156245"/>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2949525"/>
          </a:xfrm>
          <a:prstGeom prst="rect">
            <a:avLst/>
          </a:prstGeom>
          <a:noFill/>
        </p:spPr>
        <p:txBody>
          <a:bodyPr wrap="square" lIns="91440" tIns="45720" rIns="91440" bIns="45720" rtlCol="0" anchor="t">
            <a:spAutoFit/>
          </a:bodyPr>
          <a:lstStyle/>
          <a:p>
            <a:pPr marL="285750" indent="-285750">
              <a:lnSpc>
                <a:spcPct val="150000"/>
              </a:lnSpc>
              <a:buChar char="•"/>
            </a:pPr>
            <a:r>
              <a:rPr lang="en-IN" sz="1800" dirty="0"/>
              <a:t>Resume-aware interview generation</a:t>
            </a:r>
          </a:p>
          <a:p>
            <a:pPr marL="285750" indent="-285750">
              <a:lnSpc>
                <a:spcPct val="150000"/>
              </a:lnSpc>
              <a:buChar char="•"/>
            </a:pPr>
            <a:r>
              <a:rPr lang="en-IN" sz="1800" dirty="0"/>
              <a:t>RAG-powered contextual questioning</a:t>
            </a:r>
          </a:p>
          <a:p>
            <a:pPr marL="285750" indent="-285750">
              <a:lnSpc>
                <a:spcPct val="150000"/>
              </a:lnSpc>
              <a:buChar char="•"/>
            </a:pPr>
            <a:r>
              <a:rPr lang="en-IN" sz="1800" dirty="0"/>
              <a:t>Personalized AI feedback</a:t>
            </a:r>
          </a:p>
          <a:p>
            <a:pPr marL="285750" indent="-285750">
              <a:lnSpc>
                <a:spcPct val="150000"/>
              </a:lnSpc>
              <a:buChar char="•"/>
            </a:pPr>
            <a:r>
              <a:rPr lang="en-IN" sz="1800" dirty="0"/>
              <a:t>Adaptive interview difficulty</a:t>
            </a:r>
          </a:p>
          <a:p>
            <a:pPr marL="285750" indent="-285750">
              <a:lnSpc>
                <a:spcPct val="150000"/>
              </a:lnSpc>
              <a:buChar char="•"/>
            </a:pPr>
            <a:r>
              <a:rPr lang="en-IN" sz="1800" dirty="0"/>
              <a:t>Performance analytics</a:t>
            </a:r>
          </a:p>
          <a:p>
            <a:pPr marL="285750" indent="-285750">
              <a:lnSpc>
                <a:spcPct val="150000"/>
              </a:lnSpc>
              <a:buChar char="•"/>
            </a:pPr>
            <a:r>
              <a:rPr lang="en-IN" sz="1800" dirty="0"/>
              <a:t>IBM Cloud-native architecture</a:t>
            </a:r>
          </a:p>
          <a:p>
            <a:pPr marL="285750" indent="-285750">
              <a:lnSpc>
                <a:spcPct val="150000"/>
              </a:lnSpc>
              <a:buChar char="•"/>
            </a:pPr>
            <a:r>
              <a:rPr lang="en-IN" sz="1800" dirty="0"/>
              <a:t>Interactive interview simulation</a:t>
            </a:r>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https://github.com/supriyab280602/interview-trainer-agent</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lnSpc>
                <a:spcPct val="150000"/>
              </a:lnSpc>
              <a:buFont typeface="Arial"/>
              <a:buChar char="•"/>
            </a:pPr>
            <a:r>
              <a:rPr lang="en-IN" sz="2000" dirty="0"/>
              <a:t>Voice-based interviews</a:t>
            </a:r>
          </a:p>
          <a:p>
            <a:pPr marL="285750" indent="-285750">
              <a:lnSpc>
                <a:spcPct val="150000"/>
              </a:lnSpc>
              <a:buFont typeface="Arial"/>
              <a:buChar char="•"/>
            </a:pPr>
            <a:r>
              <a:rPr lang="en-IN" sz="2000" dirty="0"/>
              <a:t>AI speech analysis</a:t>
            </a:r>
          </a:p>
          <a:p>
            <a:pPr marL="285750" indent="-285750">
              <a:lnSpc>
                <a:spcPct val="150000"/>
              </a:lnSpc>
              <a:buFont typeface="Arial"/>
              <a:buChar char="•"/>
            </a:pPr>
            <a:r>
              <a:rPr lang="en-IN" sz="2000" dirty="0"/>
              <a:t>Mock video interviews</a:t>
            </a:r>
          </a:p>
          <a:p>
            <a:pPr marL="285750" indent="-285750">
              <a:lnSpc>
                <a:spcPct val="150000"/>
              </a:lnSpc>
              <a:buFont typeface="Arial"/>
              <a:buChar char="•"/>
            </a:pPr>
            <a:r>
              <a:rPr lang="en-IN" sz="2000" dirty="0"/>
              <a:t>Live coding interviews</a:t>
            </a:r>
          </a:p>
          <a:p>
            <a:pPr marL="285750" indent="-285750">
              <a:lnSpc>
                <a:spcPct val="150000"/>
              </a:lnSpc>
              <a:buFont typeface="Arial"/>
              <a:buChar char="•"/>
            </a:pPr>
            <a:r>
              <a:rPr lang="en-IN" sz="2000" dirty="0"/>
              <a:t>Company-specific interview preparation</a:t>
            </a:r>
          </a:p>
          <a:p>
            <a:pPr marL="285750" indent="-285750">
              <a:lnSpc>
                <a:spcPct val="150000"/>
              </a:lnSpc>
              <a:buFont typeface="Arial"/>
              <a:buChar char="•"/>
            </a:pPr>
            <a:r>
              <a:rPr lang="en-IN" sz="2000" dirty="0"/>
              <a:t>Multilingual support</a:t>
            </a:r>
          </a:p>
          <a:p>
            <a:pPr marL="285750" indent="-285750">
              <a:lnSpc>
                <a:spcPct val="150000"/>
              </a:lnSpc>
              <a:buFont typeface="Arial"/>
              <a:buChar char="•"/>
            </a:pPr>
            <a:r>
              <a:rPr lang="en-IN" sz="2000" dirty="0"/>
              <a:t>LinkedIn integration</a:t>
            </a:r>
          </a:p>
          <a:p>
            <a:pPr marL="285750" indent="-285750">
              <a:lnSpc>
                <a:spcPct val="150000"/>
              </a:lnSpc>
              <a:buFont typeface="Arial"/>
              <a:buChar char="•"/>
            </a:pPr>
            <a:r>
              <a:rPr lang="en-IN" sz="2000" dirty="0"/>
              <a:t>AI learning roadmap</a:t>
            </a: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BFB5A88B-CA6C-9FE6-DE8F-FC02D6D49CC5}"/>
              </a:ext>
            </a:extLst>
          </p:cNvPr>
          <p:cNvPicPr>
            <a:picLocks noChangeAspect="1"/>
          </p:cNvPicPr>
          <p:nvPr/>
        </p:nvPicPr>
        <p:blipFill>
          <a:blip r:embed="rId2"/>
          <a:stretch>
            <a:fillRect/>
          </a:stretch>
        </p:blipFill>
        <p:spPr>
          <a:xfrm>
            <a:off x="2399318" y="809496"/>
            <a:ext cx="7393364" cy="55865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 IBM BOB Certificate</a:t>
            </a:r>
          </a:p>
        </p:txBody>
      </p:sp>
      <p:pic>
        <p:nvPicPr>
          <p:cNvPr id="3" name="Picture 2">
            <a:extLst>
              <a:ext uri="{FF2B5EF4-FFF2-40B4-BE49-F238E27FC236}">
                <a16:creationId xmlns:a16="http://schemas.microsoft.com/office/drawing/2014/main" id="{B3DDF579-A45C-E521-700C-A83640AC2CB1}"/>
              </a:ext>
            </a:extLst>
          </p:cNvPr>
          <p:cNvPicPr>
            <a:picLocks noChangeAspect="1"/>
          </p:cNvPicPr>
          <p:nvPr/>
        </p:nvPicPr>
        <p:blipFill>
          <a:blip r:embed="rId2"/>
          <a:stretch>
            <a:fillRect/>
          </a:stretch>
        </p:blipFill>
        <p:spPr>
          <a:xfrm>
            <a:off x="1465007" y="1303874"/>
            <a:ext cx="9098164" cy="518348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extBox 1">
            <a:extLst>
              <a:ext uri="{FF2B5EF4-FFF2-40B4-BE49-F238E27FC236}">
                <a16:creationId xmlns:a16="http://schemas.microsoft.com/office/drawing/2014/main" id="{A484D3E3-C17E-EB4C-35A5-ABE718686161}"/>
              </a:ext>
            </a:extLst>
          </p:cNvPr>
          <p:cNvSpPr txBox="1"/>
          <p:nvPr/>
        </p:nvSpPr>
        <p:spPr>
          <a:xfrm>
            <a:off x="3146322" y="2290917"/>
            <a:ext cx="7334865" cy="1272143"/>
          </a:xfrm>
          <a:prstGeom prst="rect">
            <a:avLst/>
          </a:prstGeom>
          <a:noFill/>
        </p:spPr>
        <p:txBody>
          <a:bodyPr wrap="square" rtlCol="0">
            <a:spAutoFit/>
          </a:bodyPr>
          <a:lstStyle/>
          <a:p>
            <a:r>
              <a:rPr lang="en-US" sz="11500" baseline="-25000" dirty="0"/>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TotalTime>
  <Words>448</Words>
  <Application>Microsoft Office PowerPoint</Application>
  <PresentationFormat>Widescreen</PresentationFormat>
  <Paragraphs>77</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SUPRIYA B</cp:lastModifiedBy>
  <cp:revision>3</cp:revision>
  <dcterms:created xsi:type="dcterms:W3CDTF">2025-07-08T05:06:56Z</dcterms:created>
  <dcterms:modified xsi:type="dcterms:W3CDTF">2026-07-14T21:01:14Z</dcterms:modified>
</cp:coreProperties>
</file>